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61" r:id="rId4"/>
    <p:sldId id="262" r:id="rId5"/>
    <p:sldId id="263" r:id="rId6"/>
    <p:sldId id="266" r:id="rId7"/>
    <p:sldId id="258" r:id="rId8"/>
    <p:sldId id="259" r:id="rId9"/>
    <p:sldId id="260" r:id="rId10"/>
    <p:sldId id="264" r:id="rId11"/>
    <p:sldId id="265" r:id="rId12"/>
    <p:sldId id="268" r:id="rId13"/>
    <p:sldId id="269" r:id="rId14"/>
    <p:sldId id="270" r:id="rId15"/>
    <p:sldId id="271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25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4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87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17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144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14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62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32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89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73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11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504608F-33AD-4D9D-A67E-C6467A01590E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CC09CB7-38C0-4F7C-8340-8AAAEF746E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3E32-9FF4-E873-CC13-72D5D70CB3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100" b="1" dirty="0"/>
              <a:t>Cognitive Requirement Engineering for the Next Generation of Ethical Artificial Intelligence Systems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C1DB-CE35-6BDA-3787-723FDA6843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Sabahat Siddique</a:t>
            </a:r>
          </a:p>
          <a:p>
            <a:r>
              <a:rPr lang="en-GB" dirty="0"/>
              <a:t>M24F0023AI003</a:t>
            </a:r>
          </a:p>
          <a:p>
            <a:r>
              <a:rPr lang="en-GB" dirty="0"/>
              <a:t>DR. MUSADAQ MANSOOR</a:t>
            </a:r>
          </a:p>
          <a:p>
            <a:r>
              <a:rPr lang="en-GB" dirty="0"/>
              <a:t>Dr. MAQBOOL KHAN</a:t>
            </a:r>
          </a:p>
        </p:txBody>
      </p:sp>
    </p:spTree>
    <p:extLst>
      <p:ext uri="{BB962C8B-B14F-4D97-AF65-F5344CB8AC3E}">
        <p14:creationId xmlns:p14="http://schemas.microsoft.com/office/powerpoint/2010/main" val="313023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165A-E484-BE14-4474-C89BD627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4EA1-93C3-8F88-86A3-5FB995E1A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is widely used in healthcare, banking, criminal justice, and autonomous systems</a:t>
            </a:r>
          </a:p>
          <a:p>
            <a:r>
              <a:rPr lang="en-US" dirty="0"/>
              <a:t>Improves efficiency, scalability, and decision-making</a:t>
            </a:r>
          </a:p>
          <a:p>
            <a:r>
              <a:rPr lang="en-US" dirty="0"/>
              <a:t>Increasing impact on society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222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7688-9EC9-A9F4-78B5-6E3EA0E5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7EE23-D856-2C5C-5EFC-D67D5EA9A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AI systems raise ethical concerns:</a:t>
            </a:r>
          </a:p>
          <a:p>
            <a:r>
              <a:rPr lang="en-US" dirty="0"/>
              <a:t>Bias and discrimination </a:t>
            </a:r>
          </a:p>
          <a:p>
            <a:r>
              <a:rPr lang="en-US" dirty="0"/>
              <a:t>Lack of transparency </a:t>
            </a:r>
          </a:p>
          <a:p>
            <a:r>
              <a:rPr lang="en-US" dirty="0"/>
              <a:t>Privacy issues </a:t>
            </a:r>
          </a:p>
          <a:p>
            <a:r>
              <a:rPr lang="en-US" dirty="0"/>
              <a:t>Weak accountability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58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2F04-0294-5C91-75B3-1AF54CEA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FC9B-8339-19E4-A269-C1D79F167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Traditional Requirements Engineering (RE):</a:t>
            </a:r>
          </a:p>
          <a:p>
            <a:r>
              <a:rPr lang="en-US" dirty="0"/>
              <a:t>Focuses on functional &amp; technical requirements</a:t>
            </a:r>
          </a:p>
          <a:p>
            <a:r>
              <a:rPr lang="en-US" dirty="0"/>
              <a:t>Ignores ethical aspects</a:t>
            </a:r>
          </a:p>
          <a:p>
            <a:pPr marL="0" indent="0">
              <a:buNone/>
            </a:pPr>
            <a:r>
              <a:rPr lang="en-US" dirty="0"/>
              <a:t>Ethical principles remain:</a:t>
            </a:r>
          </a:p>
          <a:p>
            <a:r>
              <a:rPr lang="en-US" dirty="0"/>
              <a:t>Abstract</a:t>
            </a:r>
          </a:p>
          <a:p>
            <a:r>
              <a:rPr lang="en-US" dirty="0"/>
              <a:t>Hard to measure</a:t>
            </a:r>
          </a:p>
          <a:p>
            <a:r>
              <a:rPr lang="en-US" dirty="0"/>
              <a:t>Difficult to implement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392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84EC-8BAC-D6CA-3025-1F7E5050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6E06F-8C80-A286-5CBE-AE8F2633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Ethical issues must be addressed early in development</a:t>
            </a:r>
          </a:p>
          <a:p>
            <a:pPr marL="0" indent="0">
              <a:buNone/>
            </a:pPr>
            <a:r>
              <a:rPr lang="en-US" dirty="0"/>
              <a:t>Need to: </a:t>
            </a:r>
          </a:p>
          <a:p>
            <a:r>
              <a:rPr lang="en-US" dirty="0"/>
              <a:t>Convert ethics into measurable requirements</a:t>
            </a:r>
          </a:p>
          <a:p>
            <a:r>
              <a:rPr lang="en-US" dirty="0"/>
              <a:t>Validate using real data and models</a:t>
            </a:r>
          </a:p>
          <a:p>
            <a:r>
              <a:rPr lang="en-US" dirty="0"/>
              <a:t>Maintain traceability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858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A97E-17F8-CF7B-7A34-546D4C84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11906-A799-5937-E8F2-EA44841A8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274"/>
            <a:ext cx="10515600" cy="49116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Ferrario et al. (2021) – Ethical Requirements for AI</a:t>
            </a:r>
          </a:p>
          <a:p>
            <a:r>
              <a:rPr lang="en-US" dirty="0"/>
              <a:t>Identifies key ethical issues in AI systems </a:t>
            </a:r>
          </a:p>
          <a:p>
            <a:r>
              <a:rPr lang="en-US" dirty="0"/>
              <a:t>Highlights need for ethical requirements in RE </a:t>
            </a:r>
          </a:p>
          <a:p>
            <a:r>
              <a:rPr lang="en-US" dirty="0"/>
              <a:t>Focus on fairness, transparency, and accountability </a:t>
            </a:r>
          </a:p>
          <a:p>
            <a:r>
              <a:rPr lang="en-US" dirty="0"/>
              <a:t>Provides conceptual understanding </a:t>
            </a:r>
          </a:p>
          <a:p>
            <a:pPr marL="0" indent="0">
              <a:buNone/>
            </a:pPr>
            <a:r>
              <a:rPr lang="en-US" b="1" dirty="0"/>
              <a:t>Gap:</a:t>
            </a:r>
            <a:endParaRPr lang="en-US" dirty="0"/>
          </a:p>
          <a:p>
            <a:r>
              <a:rPr lang="en-US" dirty="0"/>
              <a:t>Lacks practical implementation framework </a:t>
            </a:r>
          </a:p>
          <a:p>
            <a:r>
              <a:rPr lang="en-US" dirty="0"/>
              <a:t>No quantifiable metrics or tool support </a:t>
            </a:r>
          </a:p>
          <a:p>
            <a:pPr marL="0" indent="0">
              <a:buNone/>
            </a:pPr>
            <a:r>
              <a:rPr lang="en-US" b="1" dirty="0"/>
              <a:t>Our Work:</a:t>
            </a:r>
            <a:endParaRPr lang="en-US" dirty="0"/>
          </a:p>
          <a:p>
            <a:r>
              <a:rPr lang="en-US" dirty="0"/>
              <a:t>Ethical RE framework with lifecycle integration </a:t>
            </a:r>
          </a:p>
          <a:p>
            <a:r>
              <a:rPr lang="en-US" dirty="0"/>
              <a:t>Web-based validation tool (EthicalReq-AI)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4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CD43-71F5-4627-CC1F-9A28D9506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256"/>
            <a:ext cx="10515600" cy="5113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Ahmad et al. (2023) – RE4AI Study</a:t>
            </a:r>
          </a:p>
          <a:p>
            <a:r>
              <a:rPr lang="en-GB" dirty="0"/>
              <a:t>Identifies gaps in Requirements Engineering for AI systems </a:t>
            </a:r>
          </a:p>
          <a:p>
            <a:r>
              <a:rPr lang="en-GB" dirty="0"/>
              <a:t>Focus on missing ethical integration in lifecycle </a:t>
            </a:r>
          </a:p>
          <a:p>
            <a:r>
              <a:rPr lang="en-GB" dirty="0"/>
              <a:t>Highlights lack of structured ethical RE frameworks </a:t>
            </a:r>
          </a:p>
          <a:p>
            <a:r>
              <a:rPr lang="en-GB" b="1" dirty="0"/>
              <a:t>Gap:</a:t>
            </a:r>
            <a:endParaRPr lang="en-GB" dirty="0"/>
          </a:p>
          <a:p>
            <a:r>
              <a:rPr lang="en-GB" dirty="0"/>
              <a:t>No practical implementation approach </a:t>
            </a:r>
          </a:p>
          <a:p>
            <a:r>
              <a:rPr lang="en-GB" b="1" dirty="0"/>
              <a:t>Our Contribution:</a:t>
            </a:r>
            <a:endParaRPr lang="en-GB" dirty="0"/>
          </a:p>
          <a:p>
            <a:r>
              <a:rPr lang="en-GB" dirty="0"/>
              <a:t>Proposed Ethical RE Framework + Web Tool (EthicalReq-AI)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01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2698D-01EF-079D-6D74-B0ADDB472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172"/>
            <a:ext cx="10515600" cy="4879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Ahmad et al. (2023) – Human-Centered AI RE</a:t>
            </a:r>
          </a:p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r>
              <a:rPr lang="en-US" dirty="0"/>
              <a:t>Examines human-centered AI requirements engineering </a:t>
            </a:r>
          </a:p>
          <a:p>
            <a:r>
              <a:rPr lang="en-US" dirty="0"/>
              <a:t>Finds weak integration of ethics in development lifecycle </a:t>
            </a:r>
          </a:p>
          <a:p>
            <a:r>
              <a:rPr lang="en-US" dirty="0"/>
              <a:t>Highlights disconnect between theory and practice </a:t>
            </a:r>
          </a:p>
          <a:p>
            <a:pPr marL="0" indent="0">
              <a:buNone/>
            </a:pPr>
            <a:r>
              <a:rPr lang="en-US" b="1" dirty="0"/>
              <a:t>Gap:</a:t>
            </a:r>
            <a:endParaRPr lang="en-US" dirty="0"/>
          </a:p>
          <a:p>
            <a:r>
              <a:rPr lang="en-US" dirty="0"/>
              <a:t>No automated or lifecycle-based solution </a:t>
            </a:r>
          </a:p>
          <a:p>
            <a:pPr marL="0" indent="0">
              <a:buNone/>
            </a:pPr>
            <a:r>
              <a:rPr lang="en-US" b="1" dirty="0"/>
              <a:t>Our Contribution:</a:t>
            </a:r>
            <a:endParaRPr lang="en-US" dirty="0"/>
          </a:p>
          <a:p>
            <a:r>
              <a:rPr lang="en-US" dirty="0"/>
              <a:t>Full lifecycle-based ethical RE integration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09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CC887-001C-EC93-F7EA-2B1968D0F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605"/>
            <a:ext cx="10515600" cy="532635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Akbarighatar (2025) – Responsible AI Capabilities</a:t>
            </a:r>
          </a:p>
          <a:p>
            <a:pPr marL="0" indent="0">
              <a:buNone/>
            </a:pPr>
            <a:r>
              <a:rPr lang="en-GB" b="1" dirty="0"/>
              <a:t>Key Points:</a:t>
            </a:r>
            <a:endParaRPr lang="en-GB" dirty="0"/>
          </a:p>
          <a:p>
            <a:r>
              <a:rPr lang="en-GB" dirty="0"/>
              <a:t>Maps Responsible AI principles into system capabilities </a:t>
            </a:r>
          </a:p>
          <a:p>
            <a:r>
              <a:rPr lang="en-GB" dirty="0"/>
              <a:t>Focus on operationalizing ethics </a:t>
            </a:r>
          </a:p>
          <a:p>
            <a:pPr marL="0" indent="0">
              <a:buNone/>
            </a:pPr>
            <a:r>
              <a:rPr lang="en-GB" b="1" dirty="0"/>
              <a:t>Gap:</a:t>
            </a:r>
            <a:endParaRPr lang="en-GB" dirty="0"/>
          </a:p>
          <a:p>
            <a:r>
              <a:rPr lang="en-GB" dirty="0"/>
              <a:t>Complex decomposition of principles </a:t>
            </a:r>
          </a:p>
          <a:p>
            <a:pPr marL="0" indent="0">
              <a:buNone/>
            </a:pPr>
            <a:r>
              <a:rPr lang="en-GB" b="1" dirty="0"/>
              <a:t>Our Contribution:</a:t>
            </a:r>
            <a:endParaRPr lang="en-GB" dirty="0"/>
          </a:p>
          <a:p>
            <a:r>
              <a:rPr lang="en-GB" dirty="0"/>
              <a:t>Simple </a:t>
            </a:r>
            <a:r>
              <a:rPr lang="en-GB" b="1" dirty="0"/>
              <a:t>quantifiable ethical requirement templates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145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C89D-A236-1D49-4A1E-E2F87F18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F3E86-4261-8239-D2B0-43E10F1A9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tool: EthicalReq-AI</a:t>
            </a:r>
          </a:p>
          <a:p>
            <a:pPr marL="0" indent="0">
              <a:buNone/>
            </a:pPr>
            <a:r>
              <a:rPr lang="en-US" dirty="0"/>
              <a:t>Features:</a:t>
            </a:r>
          </a:p>
          <a:p>
            <a:r>
              <a:rPr lang="en-US" dirty="0"/>
              <a:t>Capture ethical requirements</a:t>
            </a:r>
          </a:p>
          <a:p>
            <a:r>
              <a:rPr lang="en-US" dirty="0"/>
              <a:t>Validate using datasets</a:t>
            </a:r>
          </a:p>
          <a:p>
            <a:r>
              <a:rPr lang="en-US" dirty="0"/>
              <a:t>Apply fairness &amp; explainability metrics</a:t>
            </a:r>
          </a:p>
          <a:p>
            <a:r>
              <a:rPr lang="en-US" dirty="0"/>
              <a:t>Maintain traceability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621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741F-934F-D073-4618-BFE88937E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1FF45-7F6C-912A-2C4D-1368E59C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Bridges gap between theory and practice</a:t>
            </a:r>
          </a:p>
          <a:p>
            <a:pPr marL="0" indent="0">
              <a:buNone/>
            </a:pPr>
            <a:r>
              <a:rPr lang="en-US" dirty="0"/>
              <a:t>Makes ethics:</a:t>
            </a:r>
          </a:p>
          <a:p>
            <a:r>
              <a:rPr lang="en-US" dirty="0"/>
              <a:t>Measurable</a:t>
            </a:r>
          </a:p>
          <a:p>
            <a:r>
              <a:rPr lang="en-US" dirty="0"/>
              <a:t>Testable</a:t>
            </a:r>
          </a:p>
          <a:p>
            <a:r>
              <a:rPr lang="en-US" dirty="0"/>
              <a:t>Traceable</a:t>
            </a:r>
          </a:p>
          <a:p>
            <a:r>
              <a:rPr lang="en-US" dirty="0"/>
              <a:t>Improves trustworthy AI systems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578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9F57-0059-87A1-42B4-7D520554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8684A9-1B02-7E5E-34AE-E42F6C5C4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FB1800-D228-8B46-9DCD-22340D50D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13538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2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F734-0660-CD6E-B3D0-1620E4B1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&amp; Datasets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E6EE0A-EF77-047A-425C-98E2C7D4A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168"/>
            <a:ext cx="10515600" cy="427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47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0BC3-653A-0AD7-F71A-D640ED36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1C0B4-4A77-E216-0C31-B681E51C8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125" y="1825625"/>
            <a:ext cx="94977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85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6B0B-6B0A-7682-3AE5-F88DC70D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Ethical Issues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1DB4BE-462B-ED00-8F4D-E8B235167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846" y="1825625"/>
            <a:ext cx="83523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3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D800-5499-0765-FA2C-76F27D40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Fairness Results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200922-FB0B-FC95-90CC-3A89EFD04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369" y="1848248"/>
            <a:ext cx="4808504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366EF-FA89-0FD3-4515-07B8E282D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187" y="1848248"/>
            <a:ext cx="44226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4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374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Cognitive Requirement Engineering for the Next Generation of Ethical Artificial Intelligence Systems </vt:lpstr>
      <vt:lpstr>Introduction</vt:lpstr>
      <vt:lpstr>Problem Background</vt:lpstr>
      <vt:lpstr>Research Gap</vt:lpstr>
      <vt:lpstr>Research Objectives</vt:lpstr>
      <vt:lpstr>Literature Review </vt:lpstr>
      <vt:lpstr>PowerPoint Presentation</vt:lpstr>
      <vt:lpstr>PowerPoint Presentation</vt:lpstr>
      <vt:lpstr>PowerPoint Presentation</vt:lpstr>
      <vt:lpstr>Tool Support</vt:lpstr>
      <vt:lpstr>Research Contribution</vt:lpstr>
      <vt:lpstr>Dashboard</vt:lpstr>
      <vt:lpstr>Models &amp; Datasets</vt:lpstr>
      <vt:lpstr>Check Validation</vt:lpstr>
      <vt:lpstr>Ethical Issues</vt:lpstr>
      <vt:lpstr>Fairness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Sabahat Siddique</dc:creator>
  <cp:lastModifiedBy>Sabahat Siddique</cp:lastModifiedBy>
  <cp:revision>6</cp:revision>
  <dcterms:created xsi:type="dcterms:W3CDTF">2026-04-13T07:30:39Z</dcterms:created>
  <dcterms:modified xsi:type="dcterms:W3CDTF">2026-04-13T22:55:27Z</dcterms:modified>
</cp:coreProperties>
</file>